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KPU PROVINSI JAWA BARAT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Estimasi Biaya Implementasi Produksi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SISFO SPPD — “SIPANDU”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611880"/>
            <a:ext cx="292608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Skenario B — Produksi Nyata (data terpusat, auditable, TTE BSrE)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Asumsi: 85 pegawai • 50 SPPD/bulan (600 SPPD/tahun)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F4F6FB"/>
                </a:solidFill>
                <a:latin typeface="Calibri"/>
              </a:rPr>
              <a:t>Pengajuan Kebutuhan Anggaran Aktivasi &amp; Pemeliharaan  • 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Latar Belakang &amp; Tujuan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SISFO SPPD adalah aplikasi perjalanan dinas </a:t>
            </a:r>
            <a:r>
              <a:rPr sz="1400" b="1">
                <a:solidFill>
                  <a:srgbClr val="0B2A5B"/>
                </a:solidFill>
                <a:latin typeface="Calibri"/>
              </a:rPr>
              <a:t>paperless</a:t>
            </a:r>
            <a:r>
              <a:rPr sz="1400" b="0">
                <a:solidFill>
                  <a:srgbClr val="1A1F2B"/>
                </a:solidFill>
                <a:latin typeface="Calibri"/>
              </a:rPr>
              <a:t>: pengajuan, verifikasi berjenjang (Atasan → Kasubbag Keuangan → PPK → KPA), Surat Tugas &amp; SPPD elektronik dengan QR validasi &amp; TTE BSrE, check-in geotagging, SPJ digital, hingga pembayaran, arsip digital, dan audit trail.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94960" cy="30175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109728" cy="3017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  <a:latin typeface="Calibri"/>
              </a:rPr>
              <a:t>Tujuan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Menyajikan estimasi biaya AKTIVASI (sekali) dan PEMELIHARAAN (rutin tahunan) agar sistem siap dipakai 85 pegawai dengan data terpusat.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26080"/>
            <a:ext cx="5394960" cy="30175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926080"/>
            <a:ext cx="109728" cy="3017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  <a:latin typeface="Calibri"/>
              </a:rPr>
              <a:t>Sasaran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9476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Sistem akuntabel &amp; auditable untuk kebutuhan audit BPK/Inspektorat, mempercepat proses approval dan pertanggungjawaban (SPJ).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DASAR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Parameter &amp; Asumsi Kalkulasi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606040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2606040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C9A227"/>
                </a:solidFill>
                <a:latin typeface="Calibri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Pegawai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606040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2606040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C9A227"/>
                </a:solidFill>
                <a:latin typeface="Calibri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SPPD / bulan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645920"/>
            <a:ext cx="2606040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1645920"/>
            <a:ext cx="2606040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874519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C9A227"/>
                </a:solidFill>
                <a:latin typeface="Calibri"/>
              </a:rPr>
              <a:t>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SPPD / tahun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399" y="1645920"/>
            <a:ext cx="2606040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399" y="1645920"/>
            <a:ext cx="2606040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399" y="1874519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C9A227"/>
                </a:solidFill>
                <a:latin typeface="Calibri"/>
              </a:rP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399" y="27889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Basis harga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2A5B"/>
                </a:solidFill>
                <a:latin typeface="Calibri"/>
              </a:rPr>
              <a:t>Horizon perhitungan: </a:t>
            </a:r>
            <a:r>
              <a:rPr sz="1500" b="0">
                <a:solidFill>
                  <a:srgbClr val="1A1F2B"/>
                </a:solidFill>
                <a:latin typeface="Calibri"/>
              </a:rPr>
              <a:t>Tahun-1 = aktivasi + operasional; Tahun ke-2 dst = pemeliharaan saja.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B2A5B"/>
                </a:solidFill>
                <a:latin typeface="Calibri"/>
              </a:rPr>
              <a:t>Catatan penting: </a:t>
            </a:r>
            <a:r>
              <a:rPr sz="1500" b="0">
                <a:solidFill>
                  <a:srgbClr val="1A1F2B"/>
                </a:solidFill>
                <a:latin typeface="Calibri"/>
              </a:rPr>
              <a:t>aplikasi dasar gratis &amp; open-source (MIT). Biaya muncul karena upgrade ke arsitektur produksi terpusat: backend/API, server, integrasi, pelatihan, dan pemeliharaan. Seluruh angka adalah estimasi pasar Indonesia 2026, bukan harga final.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JUSTIFIKASI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Mengapa Bukan Rp 0 — Skenario A vs 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394960" cy="6858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Skenario A — Apa Adanya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PWA statis, data hanya di localStorage tiap perangkat.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Hosting GitHub Pages → </a:t>
            </a:r>
            <a:r>
              <a:rPr sz="1400" b="1">
                <a:solidFill>
                  <a:srgbClr val="C02A2A"/>
                </a:solidFill>
                <a:latin typeface="Calibri"/>
              </a:rPr>
              <a:t>biaya Rp 0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✖ Data tidak tersinkron antar pengguna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✖ Tanpa backup terpusat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✖ TTE masih placeholder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Cocok untuk prototipe/demo, bukan produksi 85 pegawai.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394960" cy="6858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09928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Skenario B — Produksi Nyata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Backend/API terpusat, data tersinkron &amp; auditable.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TTE BSrE asli + integrasi SAKTI/SIASN.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B2A5B"/>
                </a:solidFill>
                <a:latin typeface="Calibri"/>
              </a:rPr>
              <a:t>✔ Kolaboratif untuk 85 pegawai &amp; 7 peran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B2A5B"/>
                </a:solidFill>
                <a:latin typeface="Calibri"/>
              </a:rPr>
              <a:t>✔ Backup, monitoring, keamanan terkelola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B2A5B"/>
                </a:solidFill>
                <a:latin typeface="Calibri"/>
              </a:rPr>
              <a:t>✔ Audit trail siap BPK/Inspektorat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B2A5B"/>
                </a:solidFill>
                <a:latin typeface="Calibri"/>
              </a:rPr>
              <a:t>Menimbulkan biaya nyata — inilah yang dihitung.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BIAYA SEKALI (TAHUN-1)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Biaya Aktivasi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Estimasi (Rp)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Pengembangan backend/API + migrasi data (ganti localStorage)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40.000.000 – 80.000.000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Integrasi BSrE / SAKTI / SIASN (opsional, per integrasi)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15.000.000 – 30.000.000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Setup server, domain .go.id, konfigurasi &amp; pengujian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5.000.000 – 10.000.000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Pelatihan 85 pegawai + 7 peran (sosialisasi/onboarding)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5.000.000 – 15.000.000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2A5B"/>
                          </a:solidFill>
                          <a:latin typeface="Calibri"/>
                        </a:rPr>
                        <a:t>SUBTOTAL AKTIVASI (sekali)</a:t>
                      </a:r>
                    </a:p>
                  </a:txBody>
                  <a:tcPr marL="91440" marR="73152" marT="36576" marB="36576" anchor="ctr"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300">
                          <a:solidFill>
                            <a:srgbClr val="0B2A5B"/>
                          </a:solidFill>
                          <a:latin typeface="Calibri"/>
                        </a:rPr>
                        <a:t>65.000.000 – 135.000.000</a:t>
                      </a:r>
                    </a:p>
                  </a:txBody>
                  <a:tcPr marL="91440" marR="73152" marT="36576" marB="36576" anchor="ctr"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EF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21808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C02A2A"/>
                </a:solidFill>
                <a:latin typeface="Calibri"/>
              </a:rPr>
              <a:t>✔ Catatan hemat: </a:t>
            </a:r>
            <a:r>
              <a:rPr sz="1300" b="0">
                <a:solidFill>
                  <a:srgbClr val="1A1F2B"/>
                </a:solidFill>
                <a:latin typeface="Calibri"/>
              </a:rPr>
              <a:t>Sertifikat TTE dari BSrE (BSSN) umumnya GRATIS untuk instansi pemerintah, dan domain .go.id GRATIS via PANDI — tidak masuk biaya berbayar.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BIAYA RUTIN (PER TAHUN)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Biaya Pemeliharaan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Estimasi (Rp/tahun)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Hosting server + database (VPS/cloud kelas instansi kecil)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6.000.000 – 18.000.000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Backup, monitoring, keamanan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3.000.000 – 6.000.000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Pemeliharaan aplikatif (bugfix, update, support) ≈ 15–20% dev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8.000.000 – 20.000.000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Notifikasi WhatsApp gateway (opsional, ≈ 3.000 pesan/thn)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1.500.000 – 4.000.000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2A5B"/>
                          </a:solidFill>
                          <a:latin typeface="Calibri"/>
                        </a:rPr>
                        <a:t>SUBTOTAL PEMELIHARAAN / TAHUN</a:t>
                      </a:r>
                    </a:p>
                  </a:txBody>
                  <a:tcPr marL="91440" marR="73152" marT="36576" marB="36576" anchor="ctr"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300">
                          <a:solidFill>
                            <a:srgbClr val="0B2A5B"/>
                          </a:solidFill>
                          <a:latin typeface="Calibri"/>
                        </a:rPr>
                        <a:t>18.500.000 – 48.000.000</a:t>
                      </a:r>
                    </a:p>
                  </a:txBody>
                  <a:tcPr marL="91440" marR="73152" marT="36576" marB="36576" anchor="ctr"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Beban 600 SPPD/tahun tergolong ringan — kebutuhan server minimal. Biaya pemeliharaan bersifat berulang setiap tahun anggaran.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TOTAL COST OF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Ringkasan TCO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Periode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Estimasi (Rp)</a:t>
                      </a:r>
                    </a:p>
                  </a:txBody>
                  <a:tcPr marL="91440" marR="73152" marT="36576" marB="36576" anchor="ctr"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Tahun-1 (aktivasi + pemeliharaan)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83.000.000 – 183.000.000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Tahun ke-2 dst (pemeliharaan saja)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18.500.000 – 48.000.000 / tahun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Proyeksi 3 tahun (Tahun-1 + 2× pemeliharaan)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F2B"/>
                          </a:solidFill>
                          <a:latin typeface="Calibri"/>
                        </a:rPr>
                        <a:t>120.000.000 – 279.000.000</a:t>
                      </a:r>
                    </a:p>
                  </a:txBody>
                  <a:tcPr marL="91440" marR="73152" marT="36576" marB="36576" anchor="ctr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Aktivasi bersifat </a:t>
            </a:r>
            <a:r>
              <a:rPr sz="1600" b="1">
                <a:solidFill>
                  <a:srgbClr val="C9A227"/>
                </a:solidFill>
                <a:latin typeface="Calibri"/>
              </a:rPr>
              <a:t>sekali bayar</a:t>
            </a:r>
            <a:r>
              <a:rPr sz="1600" b="0">
                <a:solidFill>
                  <a:srgbClr val="FFFFFF"/>
                </a:solidFill>
                <a:latin typeface="Calibri"/>
              </a:rPr>
              <a:t>. Mulai Tahun ke-2, beban anggaran turun drastis menjadi sekadar pemeliharaan rutin — menjadikan sistem semakin efisien dari tahun ke tahun.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INDIKATOR EFISIENSI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Biaya per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2651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6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Rp 138rb – 305rb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2A2A"/>
                </a:solidFill>
                <a:latin typeface="Calibri"/>
              </a:rPr>
              <a:t>per SPPD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Tahun-1 (termasuk aktivasi)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828800"/>
            <a:ext cx="3520440" cy="2651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828800"/>
            <a:ext cx="3520440" cy="76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2860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Rp 31rb – 80rb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310896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2A2A"/>
                </a:solidFill>
                <a:latin typeface="Calibri"/>
              </a:rPr>
              <a:t>per SPPD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36118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Tahun berjalan (pemeliharaan)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1828800"/>
            <a:ext cx="3520440" cy="2651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828800"/>
            <a:ext cx="3520440" cy="76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22860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Rp 218rb – 565rb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310896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2A2A"/>
                </a:solidFill>
                <a:latin typeface="Calibri"/>
              </a:rPr>
              <a:t>per pegawai/tahun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36118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Biaya operasional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Biaya per unit menurun drastis setelah Tahun-1 karena aktivasi bersifat sekali bayar.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NILAI 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Manfaat &amp; Justifikasi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Paperless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Hemat kertas, biaya cetak, dan arsip fisik.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691640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91640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Lebih Cepat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04872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Approval berjenjang &amp; SPJ lebih cepat dan transparan.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1691640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691640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Anti-Duplikasi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04872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Deteksi duplikasi klaim biaya perjalanan.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49039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Dashboard DIPA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1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Monitoring serapan anggaran realtime.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749039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3749039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39319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Arsip Permanen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462271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Arsip digital permanen &amp; mudah ditelusuri.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56" y="3749039"/>
            <a:ext cx="352044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3749039"/>
            <a:ext cx="109728" cy="1783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393191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Siap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462271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Audit trail tak-terhapus untuk BPK/Inspektorat.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OPTIMASI ANGGARAN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Opsi Penghematan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3015" y="384048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4206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783080"/>
            <a:ext cx="1028700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78308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Gunakan server/hosting internal instansi untuk menekan biaya cloud.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743200"/>
            <a:ext cx="1028700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74320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Manfaatkan TTE BSrE &amp; domain .go.id yang GRATIS untuk pemerintah.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703320"/>
            <a:ext cx="1028700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70332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Tunda integrasi SAKTI/SIASN ke fase berikutnya (bertahap).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663440"/>
            <a:ext cx="1028700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4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Gunakan kontributor open-source / SDM internal untuk pemeliharaan.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Dengan opsi ini, total biaya dapat mendekati batas bawah rentang estimasi.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SISFO SPPD (SIPANDU) — KPU Provinsi Jawa Barat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Estimasi pasar 2026 — bukan harga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REKOMENDASI &amp; LANGKAH SELANJUTNYA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Anggarkan Tahun-1 pada kisaran moderat ± Rp 120 juta, dan pemeliharaan tahunan ± Rp 30 juta.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063240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F4F6FB"/>
                </a:solidFill>
                <a:latin typeface="Calibri"/>
              </a:rPr>
              <a:t>Finalisasi asumsi: server internal vs cloud, cakupan integrasi.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31920"/>
            <a:ext cx="5486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931920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F4F6FB"/>
                </a:solidFill>
                <a:latin typeface="Calibri"/>
              </a:rPr>
              <a:t>Susun RAB (Rencana Anggaran Biaya) rinci berbasis rentang ini.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800600"/>
            <a:ext cx="5486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006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800600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F4F6FB"/>
                </a:solidFill>
                <a:latin typeface="Calibri"/>
              </a:rPr>
              <a:t>Jadwalkan pengadaan, pengembangan, migrasi data &amp; pelatihan.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29107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Seluruh angka adalah estimasi pasar Indonesia 2026 — bukan harga final/penawaran resmi.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